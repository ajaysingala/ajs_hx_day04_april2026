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2" r:id="rId4"/>
    <p:sldId id="264" r:id="rId5"/>
    <p:sldId id="260" r:id="rId6"/>
    <p:sldId id="278" r:id="rId7"/>
    <p:sldId id="279" r:id="rId8"/>
    <p:sldId id="280" r:id="rId9"/>
    <p:sldId id="281" r:id="rId10"/>
    <p:sldId id="282" r:id="rId11"/>
    <p:sldId id="283" r:id="rId12"/>
    <p:sldId id="285" r:id="rId13"/>
    <p:sldId id="284" r:id="rId14"/>
    <p:sldId id="286" r:id="rId15"/>
    <p:sldId id="287" r:id="rId16"/>
    <p:sldId id="302" r:id="rId17"/>
    <p:sldId id="273" r:id="rId18"/>
    <p:sldId id="261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1" r:id="rId32"/>
    <p:sldId id="300" r:id="rId33"/>
    <p:sldId id="27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854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536CE-E45A-AADF-17CE-62DCAD60B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CA8B13-14FB-FC7A-AE8D-0443EF20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FAD22-9F50-C88D-0933-C106D418B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D7579-5794-CC00-C045-B791FA7AE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AFCF2-0DEB-5B31-B526-62EBC37E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64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DAFE-2D34-239C-C11E-0D5AB8D34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CBE48-7C5D-6D04-0FBA-FAAF900AF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593B1-9F48-9719-053B-3F5ADE53D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69231-46AC-F57A-D902-8D0F88958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3FE03-8F2E-103E-11D0-A27621A0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434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78430-BCAB-1B0F-AF15-F0E893C4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653EE-F384-CF59-792F-FF4158140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20D31-6CAE-2FB6-153A-B7FF19081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B98F5-8D12-377B-65EF-BC8BE45B7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29027-F24E-A076-D94C-44638BBC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76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7A3F7-DD0E-44ED-4EEB-249AABF7B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C653D-D49D-A4FA-4A90-363F30C233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49514-69B0-9D75-AB75-91B84E81F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F0CED-BEE9-51BC-66AD-2DB565B39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2C858-6BD8-6F6C-18CC-DD61025D4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96E2B-3604-BDC8-E54A-4D85F5C24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386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02470-824B-4058-2C01-DBE9700C8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100F9-D38B-36A7-7D45-54A621844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87207-1406-713D-69FC-90C0D7191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A808A8-687A-6C13-295A-A029B1E363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54EB28-8FF5-8565-09EB-0291EA601C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C54A18-0C92-2393-045B-6CAF563B7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1FF9CC-DC04-60BA-6C96-F30AC957B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5D9D53-A54F-89EC-CCAB-979C254D0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737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02C45-D1E3-2607-6828-9CCF3A969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5398FC-392A-FDAB-C7AE-E6210BBDA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744E78-47C2-5F62-E4D8-2E5E7FD16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CD9E7-7BAD-60B2-B129-E58DFACE4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894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D6826F-7C9B-389B-D3BE-3E86EEAEE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A1C3F-136F-9E45-0514-741B20986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01C8C-4DBE-3D21-FAB2-B0DB4A6D8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227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F5A2E-0099-9832-239F-CA04757EB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FC63F-2D86-A29C-17EC-75FA93EC3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A19F38-C99B-AA2D-6575-D97460610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C0AA0-FA71-3666-DC1C-D1D8732E1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92665-8BD3-E58B-6F97-5F3F0AEE9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664A6-5CAB-99D8-788D-084B8C74A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304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57889-AEA8-4506-EEA2-454B0813A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5FF9DB-8691-04E9-6B36-86362522E9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98241-823E-96F4-D240-F61FF2CAA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39A56-F6AD-8E3F-E2B7-79D0D078F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6FDB3-0344-BE41-9AB9-32C3CF269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70EA6-15F8-B839-7E6E-C5576FCE6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914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A7AAF-EE17-169F-1AB6-E30AED053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700CEB-5076-D9B7-2D28-2017F009B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B8B1B-89D7-F2B2-62B6-12397E624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E3F9E-F277-4FED-D74A-80D7A5A42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6B7DE-F8D2-63C1-1000-F79563564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226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DA0CC6-6B5F-7A14-1AF5-214FD7F5B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A75CF6-B132-E92D-42E9-B6BEF4BAF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F2626-8B84-38A1-4301-6C45FB0C6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D5142-E250-53BE-3BE7-1F85F5F0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54A1F-596C-82D3-CF4F-46032471E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456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412CF-0A97-D6E9-08A7-94B404CA0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EF4C72-1FF5-95FF-2EF5-016E4E776A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A4C1B-20B9-D303-48D5-5152F3EC9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0320-3EA4-D740-5867-EAF5C6D9F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17687-1800-6FBB-6366-35F680C7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442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45846-BF1A-FDA3-AF21-CBDF3817E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5D219-9850-A749-A812-DCC6A050A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E396F-1B23-F3A3-0511-71220548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DEF52-9446-668B-36C9-2DBE413EC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B32EA-BB8E-1A78-E352-195F8DE4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257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34D0-95D6-2A03-AEFF-31BFE64BD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41E04-482B-9185-BE1B-F30C178B7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69F5A-895A-3E20-0F99-18FC81F59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99B35-6AE6-0716-0A3B-488AE99C9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CC7CD-8462-7600-CB80-9ADFC4A59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806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1805A-E41A-7AD3-9215-E24984304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7EFB5-C607-A863-1696-A0DCDD2A6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BF1F4-07D4-6A3A-23A7-7F12DC4E7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76EC5-E88E-A84C-B7F6-A24DA323C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D5988-64CC-0BEF-4262-41FDF2C69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38D28-03B2-C58F-3362-A1606E2F0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278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48FA1-C0E2-F799-F99A-14B661670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BE08B-D183-C98F-15F4-3923564B4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C617D-6738-8322-64CF-3306D9E90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C13EF-8921-21AF-446E-43A50265D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2E4F52-35E7-61A4-8AF5-CC7A3A980A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5B8D9-D5AA-5FBB-6C8B-94BD962B9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C2B31D-3BC9-100D-3FFE-311A0E85A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47A129-04E8-C66F-66B9-C93EBD40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8236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4F029-C3BC-0946-5B46-27A62C277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CEDA22-AFE9-0D01-CE95-7689B19E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270DA7-E55B-3D04-08C6-1A5D4AC69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A3DB6-CC78-4E99-BF39-B6631CF5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009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2D5020-86FF-29D2-CF0B-41FA1C497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12C0C5-2392-1961-1D1D-25D58044F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6E48B-1C67-4D12-8E10-27AC939F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176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6C026-103E-B109-AB8C-6D44A515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64F4-13F5-17BC-858F-A91D84A40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961AB-963E-1504-72A4-A1AB17056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23EF0-71CA-2AA7-FBD0-CEDA44B0D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5D4D8-83C7-F4C3-84E7-A35FB3495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641F8-F4E2-CAA8-4C5E-A526C2227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434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BA75A-F806-44FF-F25C-125C9BF22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D945C1-A2FF-5B51-8FCC-CD265E642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4E7DE-6EF8-8E36-0FA4-D6C69C648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B6497-FC12-FC5C-D1BE-CB3468C57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604F6-DC90-44B8-7B77-6063A2FEE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ADB8FD-00F8-B052-388B-DA323B88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6792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979D5-D78B-51A4-D507-10241BD86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20A1C5-E115-C982-D300-680CB9BCF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8A9CA-6D71-4F05-0745-C5908856A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3D602-75B8-A654-AB57-B81FC5305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8E863-DEB4-4044-F68B-76F80BE5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2799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A36B2D-9F42-4E6C-811E-EBB1C46CF7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B7E0C-5FD8-5909-7828-CFF87FAF9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09456-A7F9-B919-EDFF-77A9B8A48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707C0-423A-49F8-7B06-1915C0E0A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6D5D8-78EF-1E5F-018E-6A0B3F2C1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8568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C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C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36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039B7D-65D6-46E6-4D0D-5248DE315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7C1B3-42BF-1C76-BE2B-E8E0F8BF6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7298E-FF3A-263A-A4F6-F667A54D7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BD994-088D-4DFC-A63A-488DD3725837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B327C-5432-928A-78F3-525A01773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ACEFF-1A2F-E90C-1E3A-45B9DFF323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30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3E9012-068E-580E-8B8F-2451EB4A5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532D6-39DA-958D-51DB-1D71DCBEE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65381-025A-C3E2-9A48-96CFE8B98D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816CEB-1072-4B22-A473-588D7AF62EB2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5B3F-F87A-E427-9837-304E169A5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87EC7-7BD1-4047-A8C3-498FD35E1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127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A831E-D1DB-BDE8-DA0F-9D8044D8A6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Agentic AI for Leaders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315B3B-2A6A-942B-EC5D-131373CA56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Ajay J. Singala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0139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C374A9-1785-AE64-2B0A-D1C59FC72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AI Applications in IT Services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F5BD1-2BC9-18E1-BE9F-FC9DE6E25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5006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E8498D-DA8F-EF6C-5420-F153D4979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E39696-2F4E-A3CB-2B45-0571098FE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b="1" dirty="0"/>
              <a:t>D</a:t>
            </a:r>
            <a:r>
              <a:rPr lang="en-IN" sz="8000" b="1" dirty="0" err="1"/>
              <a:t>esigning</a:t>
            </a:r>
            <a:r>
              <a:rPr lang="en-IN" sz="8000" b="1" dirty="0"/>
              <a:t> AI-Powered Solutions</a:t>
            </a:r>
            <a:endParaRPr 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3004392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C8AA8-8BED-27D0-E5D5-9217A8D35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Prompts + RAG + Agents into Solutions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3FF52-2AF7-4398-9F44-F5EF3315F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The Big Idea</a:t>
            </a:r>
          </a:p>
          <a:p>
            <a:pPr lvl="1"/>
            <a:r>
              <a:rPr lang="en-US" dirty="0"/>
              <a:t>Most leaders think AI = chatbot.</a:t>
            </a:r>
          </a:p>
          <a:p>
            <a:pPr lvl="1"/>
            <a:r>
              <a:rPr lang="en-US" dirty="0"/>
              <a:t>But real enterprise solutions are a </a:t>
            </a:r>
            <a:r>
              <a:rPr lang="en-US" b="1" dirty="0"/>
              <a:t>combination of 3 layers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2E4DD1-B187-B504-7136-D7213BEB55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110875"/>
              </p:ext>
            </p:extLst>
          </p:nvPr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10368578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1216769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264850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What it does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Analogy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696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Prompts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Tell AI how to behave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Instructions to an employee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526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RAG</a:t>
                      </a:r>
                      <a:r>
                        <a:rPr lang="en-IN"/>
                        <a:t> (Retrieval)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Give AI company knowledge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Access to internal documents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77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Agents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Enable AI to take 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Employee who can use tools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6882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7211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3AB22-73E1-6D42-A2D3-6DD22D4CF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F30C8-4DC2-8465-07B8-927975E91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Prompts + RAG + Agents into Solutions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ED417-7595-25F5-2CBA-3A1362BEF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How They Work Together</a:t>
            </a:r>
          </a:p>
          <a:p>
            <a:pPr lvl="1"/>
            <a:r>
              <a:rPr lang="en-US" b="1" dirty="0"/>
              <a:t>Example: IT Support Assistant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Without RAG:</a:t>
            </a:r>
            <a:endParaRPr lang="en-US" dirty="0"/>
          </a:p>
          <a:p>
            <a:pPr lvl="2"/>
            <a:r>
              <a:rPr lang="en-US" dirty="0"/>
              <a:t>AI gives generic answers </a:t>
            </a:r>
          </a:p>
          <a:p>
            <a:pPr lvl="2"/>
            <a:r>
              <a:rPr lang="en-US" dirty="0"/>
              <a:t>Might hallucinate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With RAG:</a:t>
            </a:r>
            <a:endParaRPr lang="en-US" dirty="0"/>
          </a:p>
          <a:p>
            <a:pPr lvl="2"/>
            <a:r>
              <a:rPr lang="en-US" dirty="0"/>
              <a:t>Pulls from: </a:t>
            </a:r>
          </a:p>
          <a:p>
            <a:pPr lvl="3"/>
            <a:r>
              <a:rPr lang="en-US" dirty="0"/>
              <a:t>Internal KB articles </a:t>
            </a:r>
          </a:p>
          <a:p>
            <a:pPr lvl="3"/>
            <a:r>
              <a:rPr lang="en-US" dirty="0"/>
              <a:t>Past tickets </a:t>
            </a:r>
          </a:p>
          <a:p>
            <a:pPr lvl="3"/>
            <a:r>
              <a:rPr lang="en-US" dirty="0"/>
              <a:t>SOPs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With Agents:</a:t>
            </a:r>
            <a:endParaRPr lang="en-US" dirty="0"/>
          </a:p>
          <a:p>
            <a:pPr lvl="2"/>
            <a:r>
              <a:rPr lang="en-US" dirty="0"/>
              <a:t>Can: </a:t>
            </a:r>
          </a:p>
          <a:p>
            <a:pPr lvl="3"/>
            <a:r>
              <a:rPr lang="en-US" dirty="0"/>
              <a:t>Reset password </a:t>
            </a:r>
          </a:p>
          <a:p>
            <a:pPr lvl="3"/>
            <a:r>
              <a:rPr lang="en-US" dirty="0"/>
              <a:t>Create ticket </a:t>
            </a:r>
          </a:p>
          <a:p>
            <a:pPr lvl="3"/>
            <a:r>
              <a:rPr lang="en-US" dirty="0"/>
              <a:t>Check system status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51797D-2D3D-6B4C-ECD5-9324F4421D42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End-to-end flow:</a:t>
            </a:r>
            <a:endParaRPr lang="en-US" sz="2000" dirty="0"/>
          </a:p>
          <a:p>
            <a:pPr lvl="1"/>
            <a:r>
              <a:rPr lang="en-US" sz="1800" dirty="0"/>
              <a:t>User asks: </a:t>
            </a:r>
          </a:p>
          <a:p>
            <a:pPr marL="457200" lvl="1" indent="0">
              <a:buNone/>
            </a:pPr>
            <a:r>
              <a:rPr lang="en-US" sz="1800" dirty="0"/>
              <a:t>“</a:t>
            </a:r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VPN not working</a:t>
            </a:r>
            <a:r>
              <a:rPr lang="en-US" sz="1800" dirty="0"/>
              <a:t>” </a:t>
            </a:r>
          </a:p>
          <a:p>
            <a:pPr lvl="1"/>
            <a:endParaRPr lang="en-US" sz="1800" dirty="0"/>
          </a:p>
          <a:p>
            <a:pPr lvl="1"/>
            <a:r>
              <a:rPr lang="en-US" sz="1800" dirty="0"/>
              <a:t>Prompt defines role: </a:t>
            </a:r>
          </a:p>
          <a:p>
            <a:pPr marL="457200" lvl="1" indent="0">
              <a:buNone/>
            </a:pPr>
            <a:r>
              <a:rPr lang="en-US" sz="1800" dirty="0"/>
              <a:t>“</a:t>
            </a:r>
            <a:r>
              <a:rPr lang="en-US" sz="1800" dirty="0">
                <a:latin typeface="Cascadia Code" panose="020B0609020000020004" pitchFamily="49" charset="0"/>
                <a:cs typeface="Cascadia Code" panose="020B0609020000020004" pitchFamily="49" charset="0"/>
              </a:rPr>
              <a:t>You are IT support agent</a:t>
            </a:r>
            <a:r>
              <a:rPr lang="en-US" sz="1800" dirty="0"/>
              <a:t>” </a:t>
            </a:r>
          </a:p>
          <a:p>
            <a:pPr lvl="1"/>
            <a:endParaRPr lang="en-US" sz="1800" dirty="0"/>
          </a:p>
          <a:p>
            <a:pPr lvl="1"/>
            <a:r>
              <a:rPr lang="en-US" sz="1800" dirty="0"/>
              <a:t>RAG retrieves relevant KB article </a:t>
            </a:r>
          </a:p>
          <a:p>
            <a:pPr lvl="1"/>
            <a:endParaRPr lang="en-US" sz="1800" dirty="0"/>
          </a:p>
          <a:p>
            <a:pPr lvl="1"/>
            <a:r>
              <a:rPr lang="en-US" sz="1800" dirty="0"/>
              <a:t>Agent: </a:t>
            </a:r>
          </a:p>
          <a:p>
            <a:pPr lvl="2"/>
            <a:r>
              <a:rPr lang="en-US" sz="1600" dirty="0"/>
              <a:t>Suggests fix </a:t>
            </a:r>
          </a:p>
          <a:p>
            <a:pPr lvl="2"/>
            <a:r>
              <a:rPr lang="en-US" sz="1600" dirty="0"/>
              <a:t>If unresolved → creates ticket automatically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3253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9F76F-35AB-3EB7-9E25-8408B75B8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66F16-C81E-5961-DC70-205C87CDE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Enterprise Use Cases in IT Services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2DA5D-C6E6-4882-4576-45C00DDFA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1. Intelligent IT Support</a:t>
            </a:r>
          </a:p>
          <a:p>
            <a:pPr lvl="1"/>
            <a:r>
              <a:rPr lang="en-IN" b="1" dirty="0"/>
              <a:t>Problem today:</a:t>
            </a:r>
            <a:endParaRPr lang="en-IN" dirty="0"/>
          </a:p>
          <a:p>
            <a:pPr lvl="2"/>
            <a:r>
              <a:rPr lang="en-IN" dirty="0"/>
              <a:t>L1 support overloaded </a:t>
            </a:r>
          </a:p>
          <a:p>
            <a:pPr lvl="2"/>
            <a:r>
              <a:rPr lang="en-IN" dirty="0"/>
              <a:t>Repetitive queries </a:t>
            </a:r>
          </a:p>
          <a:p>
            <a:pPr lvl="1"/>
            <a:r>
              <a:rPr lang="en-IN" b="1" dirty="0"/>
              <a:t>AI Solution:</a:t>
            </a:r>
            <a:endParaRPr lang="en-IN" dirty="0"/>
          </a:p>
          <a:p>
            <a:pPr lvl="2"/>
            <a:r>
              <a:rPr lang="en-IN" dirty="0"/>
              <a:t>AI handles 60–70% of tickets </a:t>
            </a:r>
          </a:p>
          <a:p>
            <a:pPr lvl="1"/>
            <a:r>
              <a:rPr lang="en-IN" b="1" dirty="0"/>
              <a:t>Example:</a:t>
            </a:r>
            <a:endParaRPr lang="en-IN" dirty="0"/>
          </a:p>
          <a:p>
            <a:pPr lvl="2"/>
            <a:r>
              <a:rPr lang="en-IN" dirty="0"/>
              <a:t>Password reset </a:t>
            </a:r>
          </a:p>
          <a:p>
            <a:pPr lvl="2"/>
            <a:r>
              <a:rPr lang="en-IN" dirty="0"/>
              <a:t>Software install help </a:t>
            </a:r>
          </a:p>
          <a:p>
            <a:pPr lvl="2"/>
            <a:r>
              <a:rPr lang="en-IN" dirty="0"/>
              <a:t>Basic troubleshooting </a:t>
            </a:r>
          </a:p>
          <a:p>
            <a:pPr lvl="1"/>
            <a:r>
              <a:rPr lang="en-IN" b="1" dirty="0"/>
              <a:t>Impact:</a:t>
            </a:r>
            <a:endParaRPr lang="en-IN" dirty="0"/>
          </a:p>
          <a:p>
            <a:pPr lvl="2"/>
            <a:r>
              <a:rPr lang="en-IN" dirty="0"/>
              <a:t>Faster resolution </a:t>
            </a:r>
          </a:p>
          <a:p>
            <a:pPr lvl="2"/>
            <a:r>
              <a:rPr lang="en-IN" dirty="0"/>
              <a:t>Lower support cost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2886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1D02D-A1ED-0F54-C034-639F259A8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10589-C752-009C-6708-C72CAEAE3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Enterprise Use Cases in IT Services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E1414-7C18-489A-DBA5-0CCD7A290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2. QA &amp; Testing Acceleration</a:t>
            </a:r>
          </a:p>
          <a:p>
            <a:pPr lvl="1"/>
            <a:r>
              <a:rPr lang="en-US" b="1" dirty="0"/>
              <a:t>Problem:</a:t>
            </a:r>
            <a:endParaRPr lang="en-US" dirty="0"/>
          </a:p>
          <a:p>
            <a:pPr lvl="2"/>
            <a:r>
              <a:rPr lang="en-US" dirty="0"/>
              <a:t>Manual test case creation is slow </a:t>
            </a:r>
          </a:p>
          <a:p>
            <a:pPr lvl="2"/>
            <a:r>
              <a:rPr lang="en-US" dirty="0"/>
              <a:t>Coverage gaps </a:t>
            </a:r>
          </a:p>
          <a:p>
            <a:pPr lvl="1"/>
            <a:r>
              <a:rPr lang="en-US" b="1" dirty="0"/>
              <a:t>AI Solution:</a:t>
            </a:r>
            <a:endParaRPr lang="en-US" dirty="0"/>
          </a:p>
          <a:p>
            <a:pPr lvl="2"/>
            <a:r>
              <a:rPr lang="en-US" dirty="0"/>
              <a:t>Generate: </a:t>
            </a:r>
          </a:p>
          <a:p>
            <a:pPr lvl="3"/>
            <a:r>
              <a:rPr lang="en-US" dirty="0"/>
              <a:t>Test cases </a:t>
            </a:r>
          </a:p>
          <a:p>
            <a:pPr lvl="3"/>
            <a:r>
              <a:rPr lang="en-US" dirty="0"/>
              <a:t>Edge cases </a:t>
            </a:r>
          </a:p>
          <a:p>
            <a:pPr lvl="3"/>
            <a:r>
              <a:rPr lang="en-US" dirty="0"/>
              <a:t>Regression scenarios </a:t>
            </a:r>
          </a:p>
          <a:p>
            <a:pPr lvl="1"/>
            <a:r>
              <a:rPr lang="en-US" b="1" dirty="0"/>
              <a:t>Example:</a:t>
            </a:r>
            <a:endParaRPr lang="en-US" dirty="0"/>
          </a:p>
          <a:p>
            <a:pPr lvl="2"/>
            <a:r>
              <a:rPr lang="en-US" dirty="0"/>
              <a:t>Input: “Login module with OTP + retry logic”</a:t>
            </a:r>
            <a:br>
              <a:rPr lang="en-US" dirty="0"/>
            </a:br>
            <a:r>
              <a:rPr lang="en-US" dirty="0"/>
              <a:t>→ AI generates 20+ test scenarios instantly</a:t>
            </a:r>
          </a:p>
          <a:p>
            <a:pPr lvl="1"/>
            <a:r>
              <a:rPr lang="en-US" b="1" dirty="0"/>
              <a:t>Result:</a:t>
            </a:r>
            <a:endParaRPr lang="en-US" dirty="0"/>
          </a:p>
          <a:p>
            <a:pPr lvl="2"/>
            <a:r>
              <a:rPr lang="en-US" dirty="0"/>
              <a:t>AI agents simulate user behavior </a:t>
            </a:r>
          </a:p>
          <a:p>
            <a:pPr lvl="2"/>
            <a:r>
              <a:rPr lang="en-US" dirty="0"/>
              <a:t>Auto-run test scenarios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3289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25402-D6A7-DBE5-6132-D3CA57F56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120EB-AC8D-8B69-DE6F-A179D3C16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Enterprise Use Cases in IT Services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F1C2-3548-E61C-D269-2BC16AEEE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3. Effort Estimation &amp; Proposal Support</a:t>
            </a:r>
          </a:p>
          <a:p>
            <a:pPr lvl="1"/>
            <a:r>
              <a:rPr lang="en-IN" b="1" dirty="0"/>
              <a:t>Problem:</a:t>
            </a:r>
            <a:endParaRPr lang="en-IN" dirty="0"/>
          </a:p>
          <a:p>
            <a:pPr lvl="2"/>
            <a:r>
              <a:rPr lang="en-IN" dirty="0"/>
              <a:t>Estimation depends on experience </a:t>
            </a:r>
          </a:p>
          <a:p>
            <a:pPr lvl="2"/>
            <a:r>
              <a:rPr lang="en-IN" dirty="0"/>
              <a:t>Inconsistent across teams </a:t>
            </a:r>
          </a:p>
          <a:p>
            <a:pPr lvl="1"/>
            <a:r>
              <a:rPr lang="en-IN" b="1" dirty="0"/>
              <a:t>AI Solution:</a:t>
            </a:r>
            <a:endParaRPr lang="en-IN" dirty="0"/>
          </a:p>
          <a:p>
            <a:pPr lvl="2"/>
            <a:r>
              <a:rPr lang="en-IN" dirty="0"/>
              <a:t>Use past project data (RAG) </a:t>
            </a:r>
          </a:p>
          <a:p>
            <a:pPr lvl="2"/>
            <a:r>
              <a:rPr lang="en-IN" dirty="0"/>
              <a:t>Generate: </a:t>
            </a:r>
          </a:p>
          <a:p>
            <a:pPr lvl="3"/>
            <a:r>
              <a:rPr lang="en-IN" dirty="0"/>
              <a:t>Effort estimates </a:t>
            </a:r>
          </a:p>
          <a:p>
            <a:pPr lvl="3"/>
            <a:r>
              <a:rPr lang="en-IN" dirty="0"/>
              <a:t>Timelines </a:t>
            </a:r>
          </a:p>
          <a:p>
            <a:pPr lvl="3"/>
            <a:r>
              <a:rPr lang="en-IN" dirty="0"/>
              <a:t>Cost breakdown </a:t>
            </a:r>
          </a:p>
          <a:p>
            <a:pPr lvl="1"/>
            <a:r>
              <a:rPr lang="en-IN" b="1" dirty="0"/>
              <a:t>Example:</a:t>
            </a:r>
            <a:endParaRPr lang="en-IN" dirty="0"/>
          </a:p>
          <a:p>
            <a:pPr lvl="2"/>
            <a:r>
              <a:rPr lang="en-IN" dirty="0"/>
              <a:t>“Build claims processing system”</a:t>
            </a:r>
            <a:br>
              <a:rPr lang="en-IN" dirty="0"/>
            </a:br>
            <a:r>
              <a:rPr lang="en-IN" dirty="0"/>
              <a:t>→ AI suggests:</a:t>
            </a:r>
          </a:p>
          <a:p>
            <a:pPr lvl="3"/>
            <a:r>
              <a:rPr lang="en-IN" dirty="0"/>
              <a:t>Modules </a:t>
            </a:r>
          </a:p>
          <a:p>
            <a:pPr lvl="3"/>
            <a:r>
              <a:rPr lang="en-IN" dirty="0"/>
              <a:t>Estimated effort per module </a:t>
            </a:r>
          </a:p>
          <a:p>
            <a:pPr lvl="3"/>
            <a:r>
              <a:rPr lang="en-IN" dirty="0"/>
              <a:t>Risks </a:t>
            </a:r>
          </a:p>
          <a:p>
            <a:pPr lvl="1"/>
            <a:r>
              <a:rPr lang="en-IN" b="1" dirty="0"/>
              <a:t>Impact:</a:t>
            </a:r>
            <a:endParaRPr lang="en-IN" dirty="0"/>
          </a:p>
          <a:p>
            <a:pPr lvl="2"/>
            <a:r>
              <a:rPr lang="en-IN" dirty="0"/>
              <a:t>Faster proposals </a:t>
            </a:r>
          </a:p>
          <a:p>
            <a:pPr lvl="2"/>
            <a:r>
              <a:rPr lang="en-IN" dirty="0"/>
              <a:t>More consistency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3581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9FF80-A27F-B391-2DF0-DFD7D96E1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428C8-00B4-3C37-1BBF-C53B5DD43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Enterprise Use Cases in IT Services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B25EE-B4FE-A5CE-7592-462C9D120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4. Enterprise Knowledge Systems</a:t>
            </a:r>
          </a:p>
          <a:p>
            <a:pPr lvl="1"/>
            <a:r>
              <a:rPr lang="en-US" b="1" dirty="0"/>
              <a:t>Problem:</a:t>
            </a:r>
            <a:endParaRPr lang="en-US" dirty="0"/>
          </a:p>
          <a:p>
            <a:pPr lvl="2"/>
            <a:r>
              <a:rPr lang="en-US" dirty="0"/>
              <a:t>Knowledge scattered across: </a:t>
            </a:r>
          </a:p>
          <a:p>
            <a:pPr lvl="3"/>
            <a:r>
              <a:rPr lang="en-US" dirty="0"/>
              <a:t>SharePoint </a:t>
            </a:r>
          </a:p>
          <a:p>
            <a:pPr lvl="3"/>
            <a:r>
              <a:rPr lang="en-US" dirty="0"/>
              <a:t>Emails </a:t>
            </a:r>
          </a:p>
          <a:p>
            <a:pPr lvl="3"/>
            <a:r>
              <a:rPr lang="en-US" dirty="0"/>
              <a:t>Docs </a:t>
            </a:r>
          </a:p>
          <a:p>
            <a:pPr lvl="1"/>
            <a:r>
              <a:rPr lang="en-US" b="1" dirty="0"/>
              <a:t>AI Solution:</a:t>
            </a:r>
            <a:endParaRPr lang="en-US" dirty="0"/>
          </a:p>
          <a:p>
            <a:pPr lvl="2"/>
            <a:r>
              <a:rPr lang="en-US" dirty="0"/>
              <a:t>RAG-based knowledge assistant </a:t>
            </a:r>
          </a:p>
          <a:p>
            <a:pPr lvl="1"/>
            <a:r>
              <a:rPr lang="en-US" b="1" dirty="0"/>
              <a:t>Example:</a:t>
            </a:r>
            <a:endParaRPr lang="en-US" dirty="0"/>
          </a:p>
          <a:p>
            <a:pPr lvl="2"/>
            <a:r>
              <a:rPr lang="en-US" dirty="0"/>
              <a:t>“What is our API security standard?”</a:t>
            </a:r>
            <a:br>
              <a:rPr lang="en-US" dirty="0"/>
            </a:br>
            <a:r>
              <a:rPr lang="en-US" dirty="0"/>
              <a:t>→ AI answers from internal documents</a:t>
            </a:r>
          </a:p>
          <a:p>
            <a:pPr lvl="1"/>
            <a:r>
              <a:rPr lang="en-US" b="1" dirty="0"/>
              <a:t>Result:</a:t>
            </a:r>
            <a:endParaRPr lang="en-US" dirty="0"/>
          </a:p>
          <a:p>
            <a:pPr lvl="2"/>
            <a:r>
              <a:rPr lang="en-US" dirty="0"/>
              <a:t>Context-aware answers </a:t>
            </a:r>
          </a:p>
          <a:p>
            <a:pPr lvl="2"/>
            <a:r>
              <a:rPr lang="en-US" dirty="0"/>
              <a:t>Role-based responses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441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59FB3-5DC6-08DC-1361-255E4BB09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EEC9B-12F4-2E71-5F22-A6F8A1740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Enterprise Use Cases in IT Services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0CCDB-5809-A321-1D87-09880CFF8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5. Developer Productivity</a:t>
            </a:r>
          </a:p>
          <a:p>
            <a:pPr lvl="1"/>
            <a:r>
              <a:rPr lang="en-IN" b="1" dirty="0"/>
              <a:t>AI supports:</a:t>
            </a:r>
            <a:endParaRPr lang="en-IN" dirty="0"/>
          </a:p>
          <a:p>
            <a:pPr lvl="2"/>
            <a:r>
              <a:rPr lang="en-IN" dirty="0"/>
              <a:t>Code generation </a:t>
            </a:r>
          </a:p>
          <a:p>
            <a:pPr lvl="2"/>
            <a:r>
              <a:rPr lang="en-IN" dirty="0"/>
              <a:t>Code review </a:t>
            </a:r>
          </a:p>
          <a:p>
            <a:pPr lvl="2"/>
            <a:r>
              <a:rPr lang="en-IN" dirty="0"/>
              <a:t>Documentation </a:t>
            </a:r>
          </a:p>
          <a:p>
            <a:pPr lvl="1"/>
            <a:r>
              <a:rPr lang="en-IN" b="1" dirty="0"/>
              <a:t>Example:</a:t>
            </a:r>
            <a:endParaRPr lang="en-IN" dirty="0"/>
          </a:p>
          <a:p>
            <a:pPr lvl="2"/>
            <a:r>
              <a:rPr lang="en-IN" dirty="0"/>
              <a:t>“Explain this legacy code”</a:t>
            </a:r>
            <a:br>
              <a:rPr lang="en-IN" dirty="0"/>
            </a:br>
            <a:r>
              <a:rPr lang="en-IN" dirty="0"/>
              <a:t>→ AI simplifies + suggests improvements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4482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E0448-09E2-40D7-5287-9217A6B54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6ABCD-BF07-870F-F798-E2F0FE308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Identifying High-Impact Opportunities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2BDCE-688E-6938-4F9F-BF087BD17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Step 1: Look for Repetition</a:t>
            </a:r>
          </a:p>
          <a:p>
            <a:pPr lvl="1"/>
            <a:r>
              <a:rPr lang="en-US" dirty="0"/>
              <a:t>Ask:</a:t>
            </a:r>
          </a:p>
          <a:p>
            <a:pPr lvl="2"/>
            <a:r>
              <a:rPr lang="en-US" dirty="0"/>
              <a:t>What tasks are repeated daily? </a:t>
            </a:r>
          </a:p>
          <a:p>
            <a:pPr lvl="2"/>
            <a:r>
              <a:rPr lang="en-US" dirty="0"/>
              <a:t>Where are people answering same questions? </a:t>
            </a:r>
          </a:p>
          <a:p>
            <a:pPr lvl="1"/>
            <a:r>
              <a:rPr lang="en-US" dirty="0"/>
              <a:t>Examples:</a:t>
            </a:r>
          </a:p>
          <a:p>
            <a:pPr lvl="2"/>
            <a:r>
              <a:rPr lang="en-US" dirty="0"/>
              <a:t>Support tickets </a:t>
            </a:r>
          </a:p>
          <a:p>
            <a:pPr lvl="2"/>
            <a:r>
              <a:rPr lang="en-US" dirty="0"/>
              <a:t>Status reporting </a:t>
            </a:r>
          </a:p>
          <a:p>
            <a:pPr lvl="2"/>
            <a:r>
              <a:rPr lang="en-US" dirty="0"/>
              <a:t>Documentation</a:t>
            </a:r>
          </a:p>
          <a:p>
            <a:endParaRPr lang="en-US" dirty="0"/>
          </a:p>
          <a:p>
            <a:r>
              <a:rPr lang="en-US" b="1" dirty="0"/>
              <a:t>Step 2: Look for Knowledge Dependency</a:t>
            </a:r>
          </a:p>
          <a:p>
            <a:pPr lvl="1"/>
            <a:r>
              <a:rPr lang="en-US" dirty="0"/>
              <a:t>Ask:</a:t>
            </a:r>
          </a:p>
          <a:p>
            <a:pPr lvl="2"/>
            <a:r>
              <a:rPr lang="en-US" dirty="0"/>
              <a:t>Where do employees search for information? </a:t>
            </a:r>
          </a:p>
          <a:p>
            <a:pPr lvl="1"/>
            <a:r>
              <a:rPr lang="en-US" dirty="0"/>
              <a:t>Examples:</a:t>
            </a:r>
          </a:p>
          <a:p>
            <a:pPr lvl="2"/>
            <a:r>
              <a:rPr lang="en-US" dirty="0"/>
              <a:t>SOP lookup </a:t>
            </a:r>
          </a:p>
          <a:p>
            <a:pPr lvl="2"/>
            <a:r>
              <a:rPr lang="en-US" dirty="0"/>
              <a:t>Compliance rules </a:t>
            </a:r>
          </a:p>
          <a:p>
            <a:pPr lvl="2"/>
            <a:r>
              <a:rPr lang="en-US" dirty="0"/>
              <a:t>Architecture decisions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85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5F248-54DD-52CC-AFA8-D533E29AA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8D1F1-0BA4-67BF-42EA-8E8ECAEA3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Identifying High-Impact Opportunities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B699D-617B-4E30-F393-49198CA98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Step 3: Look for Decision Bottlenecks</a:t>
            </a:r>
          </a:p>
          <a:p>
            <a:pPr lvl="1"/>
            <a:r>
              <a:rPr lang="en-US" dirty="0"/>
              <a:t>Ask:</a:t>
            </a:r>
          </a:p>
          <a:p>
            <a:pPr lvl="2"/>
            <a:r>
              <a:rPr lang="en-US" dirty="0"/>
              <a:t>Where do we depend on a few experts? </a:t>
            </a:r>
          </a:p>
          <a:p>
            <a:pPr lvl="1"/>
            <a:r>
              <a:rPr lang="en-US" dirty="0"/>
              <a:t>Examples:</a:t>
            </a:r>
          </a:p>
          <a:p>
            <a:pPr lvl="2"/>
            <a:r>
              <a:rPr lang="en-US" dirty="0"/>
              <a:t>Estimation </a:t>
            </a:r>
          </a:p>
          <a:p>
            <a:pPr lvl="2"/>
            <a:r>
              <a:rPr lang="en-US" dirty="0"/>
              <a:t>Debugging </a:t>
            </a:r>
          </a:p>
          <a:p>
            <a:pPr lvl="2"/>
            <a:r>
              <a:rPr lang="en-US" dirty="0"/>
              <a:t>Root cause analysis</a:t>
            </a:r>
          </a:p>
          <a:p>
            <a:endParaRPr lang="en-US" dirty="0"/>
          </a:p>
          <a:p>
            <a:r>
              <a:rPr lang="en-US" b="1" dirty="0"/>
              <a:t>Step 4: Look for Delays</a:t>
            </a:r>
          </a:p>
          <a:p>
            <a:pPr lvl="1"/>
            <a:r>
              <a:rPr lang="en-US" dirty="0"/>
              <a:t>Ask:</a:t>
            </a:r>
          </a:p>
          <a:p>
            <a:pPr lvl="2"/>
            <a:r>
              <a:rPr lang="en-US" dirty="0"/>
              <a:t>What slows down delivery? </a:t>
            </a:r>
          </a:p>
          <a:p>
            <a:pPr lvl="1"/>
            <a:r>
              <a:rPr lang="en-US" dirty="0"/>
              <a:t>Examples:</a:t>
            </a:r>
          </a:p>
          <a:p>
            <a:pPr lvl="2"/>
            <a:r>
              <a:rPr lang="en-US" dirty="0"/>
              <a:t>Test case creation </a:t>
            </a:r>
          </a:p>
          <a:p>
            <a:pPr lvl="2"/>
            <a:r>
              <a:rPr lang="en-US" dirty="0"/>
              <a:t>Requirement analysis </a:t>
            </a:r>
          </a:p>
          <a:p>
            <a:pPr lvl="2"/>
            <a:r>
              <a:rPr lang="en-US" dirty="0"/>
              <a:t>Proposal generation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950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902A8-6F50-47EF-3163-37984554C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8EEB6-28EB-7DAE-C0F5-55146BA37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All Together (End-to-End Example)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AE284-D41A-B824-03E5-145350552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Example: Insurance Claims Processing AI</a:t>
            </a:r>
          </a:p>
          <a:p>
            <a:pPr lvl="1"/>
            <a:r>
              <a:rPr lang="en-IN" b="1" dirty="0"/>
              <a:t>Step 1: Prompt</a:t>
            </a:r>
            <a:endParaRPr lang="en-IN" dirty="0"/>
          </a:p>
          <a:p>
            <a:pPr lvl="2"/>
            <a:r>
              <a:rPr lang="en-IN" dirty="0"/>
              <a:t>“You are a claims processing expert” </a:t>
            </a:r>
          </a:p>
          <a:p>
            <a:pPr lvl="1"/>
            <a:r>
              <a:rPr lang="en-IN" b="1" dirty="0"/>
              <a:t>Step 2: RAG</a:t>
            </a:r>
            <a:endParaRPr lang="en-IN" dirty="0"/>
          </a:p>
          <a:p>
            <a:pPr lvl="2"/>
            <a:r>
              <a:rPr lang="en-IN" dirty="0"/>
              <a:t>Pull: </a:t>
            </a:r>
          </a:p>
          <a:p>
            <a:pPr lvl="3"/>
            <a:r>
              <a:rPr lang="en-IN" dirty="0"/>
              <a:t>Policy documents </a:t>
            </a:r>
          </a:p>
          <a:p>
            <a:pPr lvl="3"/>
            <a:r>
              <a:rPr lang="en-IN" dirty="0"/>
              <a:t>Claims rules </a:t>
            </a:r>
          </a:p>
          <a:p>
            <a:pPr lvl="3"/>
            <a:r>
              <a:rPr lang="en-IN" dirty="0"/>
              <a:t>Historical claims </a:t>
            </a:r>
          </a:p>
          <a:p>
            <a:pPr lvl="1"/>
            <a:r>
              <a:rPr lang="en-IN" b="1" dirty="0"/>
              <a:t>Step 3: Agent</a:t>
            </a:r>
            <a:endParaRPr lang="en-IN" dirty="0"/>
          </a:p>
          <a:p>
            <a:pPr lvl="2"/>
            <a:r>
              <a:rPr lang="en-IN" dirty="0"/>
              <a:t>Validate claim </a:t>
            </a:r>
          </a:p>
          <a:p>
            <a:pPr lvl="2"/>
            <a:r>
              <a:rPr lang="en-IN" dirty="0"/>
              <a:t>Flag fraud risk </a:t>
            </a:r>
          </a:p>
          <a:p>
            <a:pPr lvl="2"/>
            <a:r>
              <a:rPr lang="en-IN" dirty="0"/>
              <a:t>Approve/reject </a:t>
            </a:r>
          </a:p>
          <a:p>
            <a:pPr lvl="1"/>
            <a:r>
              <a:rPr lang="en-IN" b="1" dirty="0"/>
              <a:t>Outcome:</a:t>
            </a:r>
            <a:endParaRPr lang="en-IN" dirty="0"/>
          </a:p>
          <a:p>
            <a:pPr lvl="2"/>
            <a:r>
              <a:rPr lang="en-IN" dirty="0"/>
              <a:t>Faster processing </a:t>
            </a:r>
          </a:p>
          <a:p>
            <a:pPr lvl="2"/>
            <a:r>
              <a:rPr lang="en-IN" dirty="0"/>
              <a:t>Reduced fraud </a:t>
            </a:r>
          </a:p>
          <a:p>
            <a:pPr lvl="2"/>
            <a:r>
              <a:rPr lang="en-IN" dirty="0"/>
              <a:t>Consistency</a:t>
            </a:r>
          </a:p>
        </p:txBody>
      </p:sp>
    </p:spTree>
    <p:extLst>
      <p:ext uri="{BB962C8B-B14F-4D97-AF65-F5344CB8AC3E}">
        <p14:creationId xmlns:p14="http://schemas.microsoft.com/office/powerpoint/2010/main" val="85230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B9F6D-B0B4-863F-C94C-B2D295105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6E80E-4DB4-8B58-8A9B-6FAA5C002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F4B1D-C759-DED7-6C04-D1CC87622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AI is not a tool — it’s a system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Combine prompts + RAG + agents </a:t>
            </a:r>
          </a:p>
          <a:p>
            <a:endParaRPr lang="en-US" b="1" dirty="0"/>
          </a:p>
          <a:p>
            <a:r>
              <a:rPr lang="en-US" b="1" dirty="0"/>
              <a:t>Start with business problems, not technology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Focus on use cases </a:t>
            </a:r>
          </a:p>
          <a:p>
            <a:endParaRPr lang="en-US" b="1" dirty="0"/>
          </a:p>
          <a:p>
            <a:r>
              <a:rPr lang="en-US" b="1" dirty="0"/>
              <a:t>Think augmentation first, automation later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Human + AI wins</a:t>
            </a:r>
          </a:p>
        </p:txBody>
      </p:sp>
    </p:spTree>
    <p:extLst>
      <p:ext uri="{BB962C8B-B14F-4D97-AF65-F5344CB8AC3E}">
        <p14:creationId xmlns:p14="http://schemas.microsoft.com/office/powerpoint/2010/main" val="2182167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B2C35-0956-0723-6CB3-757D734F3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49E93-5B3F-BE49-FCF7-025BB9059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Replit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6556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A60591-FF6C-0AC3-0377-8CE9A21C8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EDC4742-3D24-FAE0-DDBF-4C813EE8A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53C103-9948-FEF6-C6CB-380D247F6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8000" dirty="0"/>
              <a:t>From Workflow to Applications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12720572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DBBAC-1227-A489-45E7-E9A968D58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Application Layer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DDF9D-F52E-1906-8D43-230BB940A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What is an AI Application?</a:t>
            </a:r>
          </a:p>
          <a:p>
            <a:pPr lvl="1"/>
            <a:r>
              <a:rPr lang="en-IN" dirty="0"/>
              <a:t>An AI-powered application has </a:t>
            </a:r>
            <a:r>
              <a:rPr lang="en-IN" b="1" dirty="0"/>
              <a:t>3 visible layers</a:t>
            </a:r>
            <a:r>
              <a:rPr lang="en-IN" dirty="0"/>
              <a:t>:</a:t>
            </a:r>
          </a:p>
          <a:p>
            <a:pPr lvl="2"/>
            <a:r>
              <a:rPr lang="en-IN" b="1" i="1" dirty="0"/>
              <a:t>User Interface (UI)</a:t>
            </a:r>
          </a:p>
          <a:p>
            <a:pPr lvl="2"/>
            <a:r>
              <a:rPr lang="en-IN" b="1" i="1" dirty="0"/>
              <a:t>Application Logic (Orchestration)</a:t>
            </a:r>
          </a:p>
          <a:p>
            <a:pPr lvl="2"/>
            <a:r>
              <a:rPr lang="en-IN" b="1" i="1" dirty="0"/>
              <a:t>APIs &amp; Integrations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7703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3B5C9-B34B-F52A-7E1C-5A5E19271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37472-CA12-2181-9D5D-D978E8D9E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Application Layer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92719-FEFA-1206-0B6C-B5F5E81A4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b="1" i="1" dirty="0"/>
              <a:t>User Interface (UI)</a:t>
            </a:r>
          </a:p>
          <a:p>
            <a:pPr lvl="1"/>
            <a:r>
              <a:rPr lang="en-IN" dirty="0"/>
              <a:t>Where users interact 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Examples: </a:t>
            </a:r>
          </a:p>
          <a:p>
            <a:pPr lvl="2"/>
            <a:r>
              <a:rPr lang="en-IN" dirty="0"/>
              <a:t>Chat interface </a:t>
            </a:r>
          </a:p>
          <a:p>
            <a:pPr lvl="2"/>
            <a:r>
              <a:rPr lang="en-IN" dirty="0"/>
              <a:t>Dashboard </a:t>
            </a:r>
          </a:p>
          <a:p>
            <a:pPr lvl="2"/>
            <a:r>
              <a:rPr lang="en-IN" dirty="0"/>
              <a:t>Ticketing system 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Think: </a:t>
            </a:r>
            <a:r>
              <a:rPr lang="en-IN" i="1" dirty="0"/>
              <a:t>“How does the user ask and see results?”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01259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31FB7-0CEE-D337-1290-BA989C844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C80E9-C501-18A3-477A-E4B96E5DB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Application Layer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D3D7E-C9B0-E60B-7044-7D8E6DDDB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b="1" i="1" dirty="0"/>
              <a:t>Application Logic (Orchestration)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The “brain” coordinating everything 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Decides: </a:t>
            </a:r>
          </a:p>
          <a:p>
            <a:pPr lvl="2"/>
            <a:r>
              <a:rPr lang="en-IN" dirty="0"/>
              <a:t>When to call AI </a:t>
            </a:r>
          </a:p>
          <a:p>
            <a:pPr lvl="2"/>
            <a:r>
              <a:rPr lang="en-IN" dirty="0"/>
              <a:t>When to retrieve data (RAG) </a:t>
            </a:r>
          </a:p>
          <a:p>
            <a:pPr lvl="2"/>
            <a:r>
              <a:rPr lang="en-IN" dirty="0"/>
              <a:t>When to trigger actions (agents) 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Think: </a:t>
            </a:r>
            <a:r>
              <a:rPr lang="en-IN" i="1" dirty="0"/>
              <a:t>“Who is managing the workflow?”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38167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55E42-A22A-41B1-CEF7-49D159CB2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44547-E945-F514-A585-8FF820489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Application Layer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7F73B-F2B9-B10B-0E7A-160B58801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b="1" i="1" dirty="0"/>
              <a:t>APIs &amp; Integrations</a:t>
            </a:r>
          </a:p>
          <a:p>
            <a:pPr lvl="1"/>
            <a:r>
              <a:rPr lang="en-IN" dirty="0"/>
              <a:t>Connect AI to enterprise systems 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Examples: </a:t>
            </a:r>
          </a:p>
          <a:p>
            <a:pPr lvl="2"/>
            <a:r>
              <a:rPr lang="en-IN" dirty="0"/>
              <a:t>CRM </a:t>
            </a:r>
          </a:p>
          <a:p>
            <a:pPr lvl="2"/>
            <a:r>
              <a:rPr lang="en-IN" dirty="0"/>
              <a:t>Ticketing tools (ServiceNow, Jira) </a:t>
            </a:r>
          </a:p>
          <a:p>
            <a:pPr lvl="2"/>
            <a:r>
              <a:rPr lang="en-IN" dirty="0"/>
              <a:t>Databases 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Think: </a:t>
            </a:r>
            <a:r>
              <a:rPr lang="en-IN" i="1" dirty="0"/>
              <a:t>“Where does the data come from and where does it go?”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8789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9688E-0FF4-174D-35FE-CDA8B8CF7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E11BC-3B5D-E642-6475-6447ECD8D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Application Layer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90ABF-E28F-D983-0A09-7C05D3E26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Example: AI-Powered Service Desk</a:t>
            </a:r>
          </a:p>
          <a:p>
            <a:pPr lvl="1"/>
            <a:r>
              <a:rPr lang="en-IN" b="1" dirty="0"/>
              <a:t>UI:</a:t>
            </a:r>
            <a:endParaRPr lang="en-IN" dirty="0"/>
          </a:p>
          <a:p>
            <a:pPr lvl="2"/>
            <a:r>
              <a:rPr lang="en-IN" dirty="0"/>
              <a:t>Chat window inside employee portal </a:t>
            </a:r>
          </a:p>
          <a:p>
            <a:pPr lvl="1"/>
            <a:r>
              <a:rPr lang="en-IN" b="1" dirty="0"/>
              <a:t>Application Logic:</a:t>
            </a:r>
            <a:endParaRPr lang="en-IN" dirty="0"/>
          </a:p>
          <a:p>
            <a:pPr lvl="2"/>
            <a:r>
              <a:rPr lang="en-IN" dirty="0"/>
              <a:t>Understand request </a:t>
            </a:r>
          </a:p>
          <a:p>
            <a:pPr lvl="2"/>
            <a:r>
              <a:rPr lang="en-IN" dirty="0"/>
              <a:t>Decide: </a:t>
            </a:r>
          </a:p>
          <a:p>
            <a:pPr lvl="3"/>
            <a:r>
              <a:rPr lang="en-IN" dirty="0"/>
              <a:t>Answer directly? </a:t>
            </a:r>
          </a:p>
          <a:p>
            <a:pPr lvl="3"/>
            <a:r>
              <a:rPr lang="en-IN" dirty="0"/>
              <a:t>Retrieve KB? </a:t>
            </a:r>
          </a:p>
          <a:p>
            <a:pPr lvl="3"/>
            <a:r>
              <a:rPr lang="en-IN" dirty="0"/>
              <a:t>Create ticket? </a:t>
            </a:r>
          </a:p>
          <a:p>
            <a:pPr lvl="1"/>
            <a:r>
              <a:rPr lang="en-IN" b="1" dirty="0"/>
              <a:t>APIs:</a:t>
            </a:r>
            <a:endParaRPr lang="en-IN" dirty="0"/>
          </a:p>
          <a:p>
            <a:pPr lvl="2"/>
            <a:r>
              <a:rPr lang="en-IN" dirty="0"/>
              <a:t>Fetch KB articles </a:t>
            </a:r>
          </a:p>
          <a:p>
            <a:pPr lvl="2"/>
            <a:r>
              <a:rPr lang="en-IN" dirty="0"/>
              <a:t>Create ticket in ServiceNow </a:t>
            </a:r>
          </a:p>
          <a:p>
            <a:pPr lvl="2"/>
            <a:r>
              <a:rPr lang="en-IN" dirty="0"/>
              <a:t>Check system status 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User → UI → Application Logic → (LLM + RAG + Agents) → APIs → Systems</a:t>
            </a:r>
            <a:endParaRPr lang="en-IN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6852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BFEEB-679E-E160-68BF-E80ECEDF2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628FE-2616-9294-D455-E7736DEDB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 in IT Services: Productivity &amp; Delivery Transformation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FD3D0-97C3-3F20-F0B1-D08C1D59E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Developer Productivity</a:t>
            </a:r>
          </a:p>
          <a:p>
            <a:pPr lvl="1"/>
            <a:r>
              <a:rPr lang="en-IN" b="1" dirty="0"/>
              <a:t>Before:</a:t>
            </a:r>
            <a:endParaRPr lang="en-IN" dirty="0"/>
          </a:p>
          <a:p>
            <a:pPr lvl="2"/>
            <a:r>
              <a:rPr lang="en-IN" dirty="0"/>
              <a:t>Manual coding </a:t>
            </a:r>
          </a:p>
          <a:p>
            <a:pPr lvl="2"/>
            <a:r>
              <a:rPr lang="en-IN" dirty="0"/>
              <a:t>Time spent understanding legacy systems </a:t>
            </a:r>
          </a:p>
          <a:p>
            <a:pPr lvl="1"/>
            <a:r>
              <a:rPr lang="en-IN" b="1" dirty="0"/>
              <a:t>After AI:</a:t>
            </a:r>
            <a:endParaRPr lang="en-IN" dirty="0"/>
          </a:p>
          <a:p>
            <a:pPr lvl="2"/>
            <a:r>
              <a:rPr lang="en-IN" dirty="0"/>
              <a:t>Code suggestions </a:t>
            </a:r>
          </a:p>
          <a:p>
            <a:pPr lvl="2"/>
            <a:r>
              <a:rPr lang="en-IN" dirty="0"/>
              <a:t>Code explanations </a:t>
            </a:r>
          </a:p>
          <a:p>
            <a:pPr lvl="2"/>
            <a:r>
              <a:rPr lang="en-IN" dirty="0"/>
              <a:t>Faster debugging 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Example:</a:t>
            </a:r>
          </a:p>
          <a:p>
            <a:pPr lvl="2"/>
            <a:r>
              <a:rPr lang="en-IN" dirty="0"/>
              <a:t>Developer pastes old COBOL logic</a:t>
            </a:r>
          </a:p>
          <a:p>
            <a:pPr marL="914400" lvl="2" indent="0">
              <a:buNone/>
            </a:pPr>
            <a:r>
              <a:rPr lang="en-IN" dirty="0"/>
              <a:t>→ AI explains + suggests modernization approach</a:t>
            </a:r>
          </a:p>
        </p:txBody>
      </p:sp>
    </p:spTree>
    <p:extLst>
      <p:ext uri="{BB962C8B-B14F-4D97-AF65-F5344CB8AC3E}">
        <p14:creationId xmlns:p14="http://schemas.microsoft.com/office/powerpoint/2010/main" val="729759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07F1B-4219-EEE2-12D4-2E7CF10EA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7C009-C890-C4BF-8D20-BE7F60E3C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 in IT Services: Productivity &amp; Delivery Transformation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0EC42-68C7-49DE-903B-BE97C7679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QA &amp; Testing</a:t>
            </a:r>
          </a:p>
          <a:p>
            <a:pPr lvl="1"/>
            <a:r>
              <a:rPr lang="en-IN" b="1" dirty="0"/>
              <a:t>Before:</a:t>
            </a:r>
            <a:endParaRPr lang="en-IN" dirty="0"/>
          </a:p>
          <a:p>
            <a:pPr lvl="2"/>
            <a:r>
              <a:rPr lang="en-IN" dirty="0"/>
              <a:t>Manual test case design </a:t>
            </a:r>
          </a:p>
          <a:p>
            <a:pPr lvl="2"/>
            <a:r>
              <a:rPr lang="en-IN" dirty="0"/>
              <a:t>Limited edge case coverage </a:t>
            </a:r>
          </a:p>
          <a:p>
            <a:pPr lvl="1"/>
            <a:r>
              <a:rPr lang="en-IN" b="1" dirty="0"/>
              <a:t>After AI:</a:t>
            </a:r>
            <a:endParaRPr lang="en-IN" dirty="0"/>
          </a:p>
          <a:p>
            <a:pPr lvl="2"/>
            <a:r>
              <a:rPr lang="en-IN" dirty="0"/>
              <a:t>Auto-generate test scenarios </a:t>
            </a:r>
          </a:p>
          <a:p>
            <a:pPr lvl="2"/>
            <a:r>
              <a:rPr lang="en-IN" dirty="0"/>
              <a:t>Simulate user </a:t>
            </a:r>
            <a:r>
              <a:rPr lang="en-IN" dirty="0" err="1"/>
              <a:t>behavior</a:t>
            </a:r>
            <a:r>
              <a:rPr lang="en-IN" dirty="0"/>
              <a:t> 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Example:</a:t>
            </a:r>
          </a:p>
          <a:p>
            <a:pPr lvl="2"/>
            <a:r>
              <a:rPr lang="en-IN" dirty="0"/>
              <a:t>“E-commerce checkout flow”</a:t>
            </a:r>
          </a:p>
          <a:p>
            <a:pPr marL="914400" lvl="2" indent="0">
              <a:buNone/>
            </a:pPr>
            <a:r>
              <a:rPr lang="en-IN" dirty="0"/>
              <a:t>→ AI generates edge cases like:</a:t>
            </a:r>
          </a:p>
          <a:p>
            <a:pPr lvl="3"/>
            <a:r>
              <a:rPr lang="en-IN" dirty="0"/>
              <a:t>Payment failure </a:t>
            </a:r>
          </a:p>
          <a:p>
            <a:pPr lvl="3"/>
            <a:r>
              <a:rPr lang="en-IN" dirty="0"/>
              <a:t>Network drop </a:t>
            </a:r>
          </a:p>
          <a:p>
            <a:pPr lvl="3"/>
            <a:r>
              <a:rPr lang="en-IN" dirty="0"/>
              <a:t>Duplicate order </a:t>
            </a:r>
          </a:p>
        </p:txBody>
      </p:sp>
    </p:spTree>
    <p:extLst>
      <p:ext uri="{BB962C8B-B14F-4D97-AF65-F5344CB8AC3E}">
        <p14:creationId xmlns:p14="http://schemas.microsoft.com/office/powerpoint/2010/main" val="39022281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63FE4-48AD-A158-722C-9F4279DF1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E845F-531F-BD1B-7E41-C3D1BB59B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 in IT Services: Productivity &amp; Delivery Transformation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43189-B2D6-DC77-50E7-D0ABCFD02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IT Support &amp; Operations</a:t>
            </a:r>
          </a:p>
          <a:p>
            <a:pPr lvl="1"/>
            <a:r>
              <a:rPr lang="en-IN" b="1" dirty="0"/>
              <a:t>Before:</a:t>
            </a:r>
            <a:endParaRPr lang="en-IN" dirty="0"/>
          </a:p>
          <a:p>
            <a:pPr lvl="2"/>
            <a:r>
              <a:rPr lang="en-IN" dirty="0"/>
              <a:t>Human-driven L1 support </a:t>
            </a:r>
          </a:p>
          <a:p>
            <a:pPr lvl="2"/>
            <a:r>
              <a:rPr lang="en-IN" dirty="0"/>
              <a:t>Slow response </a:t>
            </a:r>
          </a:p>
          <a:p>
            <a:pPr lvl="1"/>
            <a:r>
              <a:rPr lang="en-IN" b="1" dirty="0"/>
              <a:t>After AI:</a:t>
            </a:r>
            <a:endParaRPr lang="en-IN" dirty="0"/>
          </a:p>
          <a:p>
            <a:pPr lvl="2"/>
            <a:r>
              <a:rPr lang="en-IN" dirty="0"/>
              <a:t>AI resolves common issues instantly </a:t>
            </a:r>
          </a:p>
          <a:p>
            <a:pPr lvl="2"/>
            <a:r>
              <a:rPr lang="en-IN" dirty="0"/>
              <a:t>Escalates only complex cases 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Example:</a:t>
            </a:r>
          </a:p>
          <a:p>
            <a:pPr lvl="2"/>
            <a:r>
              <a:rPr lang="en-IN" dirty="0"/>
              <a:t>“Email not syncing”</a:t>
            </a:r>
          </a:p>
          <a:p>
            <a:pPr marL="914400" lvl="2" indent="0">
              <a:buNone/>
            </a:pPr>
            <a:r>
              <a:rPr lang="en-IN" dirty="0"/>
              <a:t>→ AI suggests fix + triggers system check</a:t>
            </a:r>
          </a:p>
        </p:txBody>
      </p:sp>
    </p:spTree>
    <p:extLst>
      <p:ext uri="{BB962C8B-B14F-4D97-AF65-F5344CB8AC3E}">
        <p14:creationId xmlns:p14="http://schemas.microsoft.com/office/powerpoint/2010/main" val="30791171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94C24-B4A6-F741-2628-230C38581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B0344-28AA-5C49-5157-24480E214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 in IT Services: Productivity &amp; Delivery Transformation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C7699-788F-6023-17E6-C720C7792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Project Delivery</a:t>
            </a:r>
          </a:p>
          <a:p>
            <a:pPr lvl="1"/>
            <a:r>
              <a:rPr lang="en-IN" b="1" dirty="0"/>
              <a:t>Before:</a:t>
            </a:r>
            <a:endParaRPr lang="en-IN" dirty="0"/>
          </a:p>
          <a:p>
            <a:pPr lvl="2"/>
            <a:r>
              <a:rPr lang="en-IN" dirty="0"/>
              <a:t>Manual requirement analysis </a:t>
            </a:r>
          </a:p>
          <a:p>
            <a:pPr lvl="2"/>
            <a:r>
              <a:rPr lang="en-IN" dirty="0"/>
              <a:t>Delayed documentation </a:t>
            </a:r>
          </a:p>
          <a:p>
            <a:pPr lvl="1"/>
            <a:r>
              <a:rPr lang="en-IN" b="1" dirty="0"/>
              <a:t>After AI:</a:t>
            </a:r>
            <a:endParaRPr lang="en-IN" dirty="0"/>
          </a:p>
          <a:p>
            <a:pPr lvl="2"/>
            <a:r>
              <a:rPr lang="en-IN" dirty="0"/>
              <a:t>AI generates: </a:t>
            </a:r>
          </a:p>
          <a:p>
            <a:pPr lvl="3"/>
            <a:r>
              <a:rPr lang="en-IN" dirty="0"/>
              <a:t>BRD summaries </a:t>
            </a:r>
          </a:p>
          <a:p>
            <a:pPr lvl="3"/>
            <a:r>
              <a:rPr lang="en-IN" dirty="0"/>
              <a:t>User stories </a:t>
            </a:r>
          </a:p>
          <a:p>
            <a:pPr lvl="3"/>
            <a:r>
              <a:rPr lang="en-IN" dirty="0"/>
              <a:t>Architecture suggestions 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Example:</a:t>
            </a:r>
          </a:p>
          <a:p>
            <a:pPr lvl="2"/>
            <a:r>
              <a:rPr lang="en-IN" dirty="0"/>
              <a:t>Upload client requirement doc</a:t>
            </a:r>
          </a:p>
          <a:p>
            <a:pPr marL="914400" lvl="2" indent="0">
              <a:buNone/>
            </a:pPr>
            <a:r>
              <a:rPr lang="en-IN" dirty="0"/>
              <a:t>→ AI creates structured backlog</a:t>
            </a:r>
          </a:p>
        </p:txBody>
      </p:sp>
    </p:spTree>
    <p:extLst>
      <p:ext uri="{BB962C8B-B14F-4D97-AF65-F5344CB8AC3E}">
        <p14:creationId xmlns:p14="http://schemas.microsoft.com/office/powerpoint/2010/main" val="13253196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ADF5C-36CC-BC2D-7420-FF7DD76F0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14BAA-6170-868B-46DD-19C04FC4E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AI Solutions Are Implemented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9824F-FC8B-0F60-D9C7-42395A1CF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47500" lnSpcReduction="20000"/>
          </a:bodyPr>
          <a:lstStyle/>
          <a:p>
            <a:r>
              <a:rPr lang="en-IN" b="1" i="1" dirty="0"/>
              <a:t>Step 1: Identify Use Case</a:t>
            </a:r>
          </a:p>
          <a:p>
            <a:pPr lvl="1"/>
            <a:r>
              <a:rPr lang="en-IN" dirty="0"/>
              <a:t>Start with a </a:t>
            </a:r>
            <a:r>
              <a:rPr lang="en-IN" b="1" dirty="0"/>
              <a:t>specific problem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Not “use AI”, but: </a:t>
            </a:r>
          </a:p>
          <a:p>
            <a:pPr lvl="2"/>
            <a:r>
              <a:rPr lang="en-IN" dirty="0"/>
              <a:t>“Reduce ticket resolution time” </a:t>
            </a:r>
          </a:p>
          <a:p>
            <a:pPr lvl="2"/>
            <a:r>
              <a:rPr lang="en-IN" dirty="0"/>
              <a:t>“Improve estimation accuracy”</a:t>
            </a:r>
          </a:p>
          <a:p>
            <a:endParaRPr lang="en-IN" dirty="0"/>
          </a:p>
          <a:p>
            <a:r>
              <a:rPr lang="en-IN" b="1" i="1" dirty="0"/>
              <a:t>Step 2: Design the Workflow</a:t>
            </a:r>
          </a:p>
          <a:p>
            <a:pPr lvl="1"/>
            <a:r>
              <a:rPr lang="en-IN" dirty="0"/>
              <a:t>Break into:</a:t>
            </a:r>
          </a:p>
          <a:p>
            <a:pPr lvl="1"/>
            <a:r>
              <a:rPr lang="en-IN" dirty="0"/>
              <a:t>Input (user query / document) </a:t>
            </a:r>
          </a:p>
          <a:p>
            <a:pPr lvl="1"/>
            <a:r>
              <a:rPr lang="en-IN" dirty="0"/>
              <a:t>Processing: </a:t>
            </a:r>
          </a:p>
          <a:p>
            <a:pPr lvl="2"/>
            <a:r>
              <a:rPr lang="en-IN" dirty="0"/>
              <a:t>Prompt </a:t>
            </a:r>
          </a:p>
          <a:p>
            <a:pPr lvl="2"/>
            <a:r>
              <a:rPr lang="en-IN" dirty="0"/>
              <a:t>RAG </a:t>
            </a:r>
          </a:p>
          <a:p>
            <a:pPr lvl="2"/>
            <a:r>
              <a:rPr lang="en-IN" dirty="0"/>
              <a:t>Agent actions </a:t>
            </a:r>
          </a:p>
          <a:p>
            <a:pPr lvl="1"/>
            <a:r>
              <a:rPr lang="en-IN" dirty="0"/>
              <a:t>Output: </a:t>
            </a:r>
          </a:p>
          <a:p>
            <a:pPr lvl="2"/>
            <a:r>
              <a:rPr lang="en-IN" dirty="0"/>
              <a:t>Response </a:t>
            </a:r>
          </a:p>
          <a:p>
            <a:pPr lvl="2"/>
            <a:r>
              <a:rPr lang="en-IN" dirty="0"/>
              <a:t>Action taken </a:t>
            </a:r>
          </a:p>
          <a:p>
            <a:r>
              <a:rPr lang="en-IN" b="1" i="1" dirty="0"/>
              <a:t>Step 3: Build the Application Layer</a:t>
            </a:r>
          </a:p>
          <a:p>
            <a:pPr lvl="1"/>
            <a:r>
              <a:rPr lang="en-IN" dirty="0"/>
              <a:t>Create: </a:t>
            </a:r>
          </a:p>
          <a:p>
            <a:pPr lvl="2"/>
            <a:r>
              <a:rPr lang="en-IN" dirty="0"/>
              <a:t>UI (chat / dashboard) </a:t>
            </a:r>
          </a:p>
          <a:p>
            <a:pPr lvl="2"/>
            <a:r>
              <a:rPr lang="en-IN" dirty="0"/>
              <a:t>Orchestration logic </a:t>
            </a:r>
          </a:p>
          <a:p>
            <a:pPr lvl="2"/>
            <a:r>
              <a:rPr lang="en-IN" dirty="0"/>
              <a:t>API integrations </a:t>
            </a:r>
          </a:p>
          <a:p>
            <a:pPr lvl="1"/>
            <a:r>
              <a:rPr lang="en-IN" dirty="0"/>
              <a:t>This is where </a:t>
            </a:r>
            <a:r>
              <a:rPr lang="en-IN" b="1" dirty="0"/>
              <a:t>workflow becomes application</a:t>
            </a:r>
            <a:endParaRPr lang="en-IN" dirty="0"/>
          </a:p>
          <a:p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A78B132-DF7C-0D13-6F1F-5007B082954F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i="1" dirty="0"/>
              <a:t>Step 4: Connect Enterprise Data (RAG)</a:t>
            </a:r>
          </a:p>
          <a:p>
            <a:pPr lvl="1"/>
            <a:r>
              <a:rPr lang="en-IN" dirty="0"/>
              <a:t>Integrate: </a:t>
            </a:r>
          </a:p>
          <a:p>
            <a:pPr lvl="2"/>
            <a:r>
              <a:rPr lang="en-IN" dirty="0"/>
              <a:t>Documents </a:t>
            </a:r>
          </a:p>
          <a:p>
            <a:pPr lvl="2"/>
            <a:r>
              <a:rPr lang="en-IN" dirty="0"/>
              <a:t>Databases </a:t>
            </a:r>
          </a:p>
          <a:p>
            <a:pPr lvl="2"/>
            <a:r>
              <a:rPr lang="en-IN" dirty="0"/>
              <a:t>Historical records </a:t>
            </a:r>
          </a:p>
          <a:p>
            <a:pPr lvl="1"/>
            <a:r>
              <a:rPr lang="en-IN" dirty="0"/>
              <a:t>Without this, AI = generic</a:t>
            </a:r>
          </a:p>
          <a:p>
            <a:r>
              <a:rPr lang="en-IN" b="1" i="1" dirty="0"/>
              <a:t>Step 5: Add Actions (Agents)</a:t>
            </a:r>
          </a:p>
          <a:p>
            <a:pPr lvl="1"/>
            <a:r>
              <a:rPr lang="en-IN" dirty="0"/>
              <a:t>Enable AI to: </a:t>
            </a:r>
          </a:p>
          <a:p>
            <a:pPr lvl="2"/>
            <a:r>
              <a:rPr lang="en-IN" dirty="0"/>
              <a:t>Update systems </a:t>
            </a:r>
          </a:p>
          <a:p>
            <a:pPr lvl="2"/>
            <a:r>
              <a:rPr lang="en-IN" dirty="0"/>
              <a:t>Trigger workflows </a:t>
            </a:r>
          </a:p>
          <a:p>
            <a:pPr lvl="2"/>
            <a:r>
              <a:rPr lang="en-IN" dirty="0"/>
              <a:t>Execute tasks </a:t>
            </a:r>
          </a:p>
          <a:p>
            <a:endParaRPr lang="en-IN" dirty="0"/>
          </a:p>
          <a:p>
            <a:r>
              <a:rPr lang="en-IN" b="1" i="1" dirty="0"/>
              <a:t>Step 6: Test &amp; Validate</a:t>
            </a:r>
          </a:p>
          <a:p>
            <a:pPr lvl="1"/>
            <a:r>
              <a:rPr lang="en-IN" dirty="0"/>
              <a:t>Check: </a:t>
            </a:r>
          </a:p>
          <a:p>
            <a:pPr lvl="2"/>
            <a:r>
              <a:rPr lang="en-IN" dirty="0"/>
              <a:t>Accuracy </a:t>
            </a:r>
          </a:p>
          <a:p>
            <a:pPr lvl="2"/>
            <a:r>
              <a:rPr lang="en-IN" dirty="0"/>
              <a:t>Hallucinations </a:t>
            </a:r>
          </a:p>
          <a:p>
            <a:pPr lvl="2"/>
            <a:r>
              <a:rPr lang="en-IN" dirty="0"/>
              <a:t>Business correctness </a:t>
            </a:r>
          </a:p>
          <a:p>
            <a:endParaRPr lang="en-IN" dirty="0"/>
          </a:p>
          <a:p>
            <a:r>
              <a:rPr lang="en-IN" b="1" i="1" dirty="0"/>
              <a:t>Step 7: Deploy &amp; Iterate</a:t>
            </a:r>
          </a:p>
          <a:p>
            <a:pPr lvl="1"/>
            <a:r>
              <a:rPr lang="en-IN" dirty="0"/>
              <a:t>Start small (pilot) </a:t>
            </a:r>
          </a:p>
          <a:p>
            <a:pPr lvl="1"/>
            <a:r>
              <a:rPr lang="en-IN" dirty="0"/>
              <a:t>Improve based on feedback </a:t>
            </a:r>
          </a:p>
        </p:txBody>
      </p:sp>
    </p:spTree>
    <p:extLst>
      <p:ext uri="{BB962C8B-B14F-4D97-AF65-F5344CB8AC3E}">
        <p14:creationId xmlns:p14="http://schemas.microsoft.com/office/powerpoint/2010/main" val="16679082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7D5A3-224C-30D6-220A-182C19492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D9487-01EB-B198-488B-6C365C23A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AI Solutions Are Implemented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677AD-0A37-CBDE-B239-927B33E2C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Real Example: QA Automation Assistant</a:t>
            </a:r>
          </a:p>
          <a:p>
            <a:pPr lvl="1"/>
            <a:r>
              <a:rPr lang="en-IN" b="1" dirty="0"/>
              <a:t>Step 1: Use Case</a:t>
            </a:r>
            <a:endParaRPr lang="en-IN" dirty="0"/>
          </a:p>
          <a:p>
            <a:pPr lvl="2"/>
            <a:r>
              <a:rPr lang="en-IN" dirty="0"/>
              <a:t>Reduce test case creation time </a:t>
            </a:r>
          </a:p>
          <a:p>
            <a:pPr lvl="1"/>
            <a:r>
              <a:rPr lang="en-IN" b="1" dirty="0"/>
              <a:t>Step 2: Workflow</a:t>
            </a:r>
            <a:endParaRPr lang="en-IN" dirty="0"/>
          </a:p>
          <a:p>
            <a:pPr lvl="2"/>
            <a:r>
              <a:rPr lang="en-IN" dirty="0"/>
              <a:t>Input: Feature description </a:t>
            </a:r>
          </a:p>
          <a:p>
            <a:pPr lvl="2"/>
            <a:r>
              <a:rPr lang="en-IN" dirty="0"/>
              <a:t>AI: </a:t>
            </a:r>
          </a:p>
          <a:p>
            <a:pPr lvl="3"/>
            <a:r>
              <a:rPr lang="en-IN" dirty="0"/>
              <a:t>Generates test cases </a:t>
            </a:r>
          </a:p>
          <a:p>
            <a:pPr lvl="3"/>
            <a:r>
              <a:rPr lang="en-IN" dirty="0"/>
              <a:t>Suggests edge cases </a:t>
            </a:r>
          </a:p>
          <a:p>
            <a:pPr lvl="1"/>
            <a:r>
              <a:rPr lang="en-IN" b="1" dirty="0"/>
              <a:t>Step 3: Application</a:t>
            </a:r>
            <a:endParaRPr lang="en-IN" dirty="0"/>
          </a:p>
          <a:p>
            <a:pPr lvl="2"/>
            <a:r>
              <a:rPr lang="en-IN" dirty="0"/>
              <a:t>UI: QA tool plugin </a:t>
            </a:r>
          </a:p>
          <a:p>
            <a:pPr lvl="2"/>
            <a:r>
              <a:rPr lang="en-IN" dirty="0"/>
              <a:t>API: Connect to test management system </a:t>
            </a:r>
          </a:p>
          <a:p>
            <a:pPr lvl="1"/>
            <a:r>
              <a:rPr lang="en-IN" b="1" dirty="0"/>
              <a:t>Step 4: RAG</a:t>
            </a:r>
            <a:endParaRPr lang="en-IN" dirty="0"/>
          </a:p>
          <a:p>
            <a:pPr lvl="2"/>
            <a:r>
              <a:rPr lang="en-IN" dirty="0"/>
              <a:t>Use: </a:t>
            </a:r>
          </a:p>
          <a:p>
            <a:pPr lvl="3"/>
            <a:r>
              <a:rPr lang="en-IN" dirty="0"/>
              <a:t>Past test cases </a:t>
            </a:r>
          </a:p>
          <a:p>
            <a:pPr lvl="3"/>
            <a:r>
              <a:rPr lang="en-IN" dirty="0"/>
              <a:t>Defect history </a:t>
            </a:r>
          </a:p>
          <a:p>
            <a:pPr lvl="1"/>
            <a:r>
              <a:rPr lang="en-IN" b="1" dirty="0"/>
              <a:t>Step 5: Agent</a:t>
            </a:r>
            <a:endParaRPr lang="en-IN" dirty="0"/>
          </a:p>
          <a:p>
            <a:pPr lvl="2"/>
            <a:r>
              <a:rPr lang="en-IN" dirty="0"/>
              <a:t>Auto-create test cases in system </a:t>
            </a:r>
          </a:p>
        </p:txBody>
      </p:sp>
    </p:spTree>
    <p:extLst>
      <p:ext uri="{BB962C8B-B14F-4D97-AF65-F5344CB8AC3E}">
        <p14:creationId xmlns:p14="http://schemas.microsoft.com/office/powerpoint/2010/main" val="5537271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136D8-716F-2B4A-65C7-0B30C7CDF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1C502-AC95-0B14-B4B2-C37EA285F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Bringing It All Together: From Workflow →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BB61D-771B-46FE-8FC9-322147BB1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IN" b="1" dirty="0"/>
              <a:t>Workflow:</a:t>
            </a:r>
            <a:endParaRPr lang="en-IN" dirty="0"/>
          </a:p>
          <a:p>
            <a:pPr lvl="1"/>
            <a:r>
              <a:rPr lang="en-IN" dirty="0"/>
              <a:t>User raises ticket </a:t>
            </a:r>
          </a:p>
          <a:p>
            <a:pPr lvl="1"/>
            <a:r>
              <a:rPr lang="en-IN" dirty="0"/>
              <a:t>Support checks KB </a:t>
            </a:r>
          </a:p>
          <a:p>
            <a:pPr lvl="1"/>
            <a:r>
              <a:rPr lang="en-IN" dirty="0"/>
              <a:t>Resolves issue </a:t>
            </a:r>
          </a:p>
          <a:p>
            <a:r>
              <a:rPr lang="en-IN" b="1" dirty="0"/>
              <a:t>AI Application:</a:t>
            </a:r>
            <a:endParaRPr lang="en-IN" dirty="0"/>
          </a:p>
          <a:p>
            <a:pPr lvl="1"/>
            <a:r>
              <a:rPr lang="en-IN" dirty="0"/>
              <a:t>User asks AI </a:t>
            </a:r>
          </a:p>
          <a:p>
            <a:pPr lvl="1"/>
            <a:r>
              <a:rPr lang="en-IN" dirty="0"/>
              <a:t>AI: </a:t>
            </a:r>
          </a:p>
          <a:p>
            <a:pPr lvl="2"/>
            <a:r>
              <a:rPr lang="en-IN" dirty="0"/>
              <a:t>Retrieves KB </a:t>
            </a:r>
          </a:p>
          <a:p>
            <a:pPr lvl="2"/>
            <a:r>
              <a:rPr lang="en-IN" dirty="0"/>
              <a:t>Suggests solution </a:t>
            </a:r>
          </a:p>
          <a:p>
            <a:pPr lvl="2"/>
            <a:r>
              <a:rPr lang="en-IN" dirty="0"/>
              <a:t>Executes fix </a:t>
            </a:r>
          </a:p>
          <a:p>
            <a:pPr lvl="2"/>
            <a:r>
              <a:rPr lang="en-IN" dirty="0"/>
              <a:t>Logs ticket automatically </a:t>
            </a:r>
          </a:p>
        </p:txBody>
      </p:sp>
    </p:spTree>
    <p:extLst>
      <p:ext uri="{BB962C8B-B14F-4D97-AF65-F5344CB8AC3E}">
        <p14:creationId xmlns:p14="http://schemas.microsoft.com/office/powerpoint/2010/main" val="38671028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30994-0E3E-3563-060A-000FA2752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14C04-7F20-120C-7A7E-57CE48F14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0B863-F9B3-3ACC-BC6B-C8D98DF1E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lvl="0"/>
            <a:r>
              <a:rPr lang="en-IN" b="1" dirty="0"/>
              <a:t>Workflows don’t create value — applications do</a:t>
            </a:r>
            <a:r>
              <a:rPr lang="en-IN" dirty="0"/>
              <a:t> 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AI must be embedded into systems, not used separately</a:t>
            </a:r>
            <a:r>
              <a:rPr lang="en-IN" dirty="0"/>
              <a:t> </a:t>
            </a:r>
          </a:p>
          <a:p>
            <a:pPr lvl="0"/>
            <a:endParaRPr lang="en-IN" b="1" dirty="0"/>
          </a:p>
          <a:p>
            <a:pPr lvl="0"/>
            <a:r>
              <a:rPr lang="en-IN" b="1"/>
              <a:t>The </a:t>
            </a:r>
            <a:r>
              <a:rPr lang="en-IN" b="1" dirty="0"/>
              <a:t>real power comes from integration </a:t>
            </a:r>
            <a:r>
              <a:rPr lang="en-IN" b="1"/>
              <a:t>+ orchestration</a:t>
            </a:r>
          </a:p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38470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760C0-3EF1-FF12-458E-0DFA73BCA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F2E8F-FE31-C5D5-0FC4-6301F4A5D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Guided Prototype Walkthrough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17998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9B0A6-BD01-BA24-380A-4F1364FE1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ED9DF-B425-250D-4F0D-ABB35D674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AI solution for a use case:</a:t>
            </a:r>
          </a:p>
          <a:p>
            <a:pPr lvl="1"/>
            <a:r>
              <a:rPr lang="en-IN" dirty="0"/>
              <a:t>Where AI fits</a:t>
            </a:r>
          </a:p>
          <a:p>
            <a:pPr lvl="1"/>
            <a:r>
              <a:rPr lang="en-IN" dirty="0"/>
              <a:t>What tasks AI performs</a:t>
            </a:r>
          </a:p>
          <a:p>
            <a:pPr lvl="1"/>
            <a:r>
              <a:rPr lang="en-IN" dirty="0"/>
              <a:t>Expected outcomes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3155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66804-B56F-083C-3F6B-0DF22CC19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952B5-46D9-5C09-0C9A-0DD2CD24B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79826-5E44-C184-8C42-0C25F6EB1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7775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1336</Words>
  <Application>Microsoft Office PowerPoint</Application>
  <PresentationFormat>Widescreen</PresentationFormat>
  <Paragraphs>378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Aptos Display</vt:lpstr>
      <vt:lpstr>Arial</vt:lpstr>
      <vt:lpstr>Cascadia Code</vt:lpstr>
      <vt:lpstr>Neue Haas Grotesk Text Pro</vt:lpstr>
      <vt:lpstr>Office Theme</vt:lpstr>
      <vt:lpstr>1_Office Theme</vt:lpstr>
      <vt:lpstr>Agentic AI for Leaders</vt:lpstr>
      <vt:lpstr>AI Applications in IT Services</vt:lpstr>
      <vt:lpstr>Designing AI-Powered Solutions</vt:lpstr>
      <vt:lpstr>Connecting Prompts + RAG + Agents into Solutions</vt:lpstr>
      <vt:lpstr>Connecting Prompts + RAG + Agents into Solutions</vt:lpstr>
      <vt:lpstr>Key Enterprise Use Cases in IT Services</vt:lpstr>
      <vt:lpstr>Key Enterprise Use Cases in IT Services</vt:lpstr>
      <vt:lpstr>Key Enterprise Use Cases in IT Services</vt:lpstr>
      <vt:lpstr>Key Enterprise Use Cases in IT Services</vt:lpstr>
      <vt:lpstr>Key Enterprise Use Cases in IT Services</vt:lpstr>
      <vt:lpstr>Identifying High-Impact Opportunities</vt:lpstr>
      <vt:lpstr>Identifying High-Impact Opportunities</vt:lpstr>
      <vt:lpstr>Putting It All Together (End-to-End Example)</vt:lpstr>
      <vt:lpstr>Key Takeaways</vt:lpstr>
      <vt:lpstr>Demo</vt:lpstr>
      <vt:lpstr>From Workflow to Applications</vt:lpstr>
      <vt:lpstr>Application Layer Basics</vt:lpstr>
      <vt:lpstr>Application Layer Basics</vt:lpstr>
      <vt:lpstr>Application Layer Basics</vt:lpstr>
      <vt:lpstr>Application Layer Basics</vt:lpstr>
      <vt:lpstr>Application Layer Basics</vt:lpstr>
      <vt:lpstr>AI in IT Services: Productivity &amp; Delivery Transformation</vt:lpstr>
      <vt:lpstr>AI in IT Services: Productivity &amp; Delivery Transformation</vt:lpstr>
      <vt:lpstr>AI in IT Services: Productivity &amp; Delivery Transformation</vt:lpstr>
      <vt:lpstr>AI in IT Services: Productivity &amp; Delivery Transformation</vt:lpstr>
      <vt:lpstr>How AI Solutions Are Implemented in Practice</vt:lpstr>
      <vt:lpstr>How AI Solutions Are Implemented in Practice</vt:lpstr>
      <vt:lpstr>Bringing It All Together: From Workflow → Application</vt:lpstr>
      <vt:lpstr>Key Takeaways</vt:lpstr>
      <vt:lpstr>Demo</vt:lpstr>
      <vt:lpstr>Exercise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Singala</dc:creator>
  <cp:lastModifiedBy>Ajay Singala</cp:lastModifiedBy>
  <cp:revision>70</cp:revision>
  <dcterms:created xsi:type="dcterms:W3CDTF">2026-04-01T13:32:53Z</dcterms:created>
  <dcterms:modified xsi:type="dcterms:W3CDTF">2026-04-03T14:08:31Z</dcterms:modified>
</cp:coreProperties>
</file>